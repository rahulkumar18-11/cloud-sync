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Figtree"/>
      <p:regular r:id="rId201314"/>
    </p:embeddedFont>
    <p:embeddedFont>
      <p:font typeface="Figtree Medium"/>
      <p:regular r:id="rId201315"/>
    </p:embeddedFont>
    <p:embeddedFont>
      <p:font typeface="Figtree SemiBold"/>
      <p:regular r:id="rId201316"/>
    </p:embeddedFont>
    <p:embeddedFont>
      <p:font typeface="Figtree Bold"/>
      <p:regular r:id="rId201317"/>
    </p:embeddedFont>
    <p:embeddedFont>
      <p:font typeface="Figtree Black"/>
      <p:regular r:id="rId201318"/>
    </p:embeddedFont>
    <p:embeddedFont>
      <p:font typeface="Martian Mono"/>
      <p:regular r:id="rId201319"/>
    </p:embeddedFont>
    <p:embeddedFont>
      <p:font typeface="Martian Mono Medium"/>
      <p:regular r:id="rId201320"/>
    </p:embeddedFont>
    <p:embeddedFont>
      <p:font typeface="Martian Mono SemiBold"/>
      <p:regular r:id="rId201321"/>
    </p:embeddedFont>
    <p:embeddedFont>
      <p:font typeface="Martian Mono Bold"/>
      <p:regular r:id="rId201322"/>
    </p:embeddedFont>
    <p:embeddedFont>
      <p:font typeface="Martian Mono ExtraBold"/>
      <p:regular r:id="rId201323"/>
    </p:embeddedFont>
    <p:embeddedFont>
      <p:font typeface="Unbounded"/>
      <p:regular r:id="rId201324"/>
    </p:embeddedFont>
    <p:embeddedFont>
      <p:font typeface="Unbounded Bold"/>
      <p:regular r:id="rId201325"/>
    </p:embeddedFont>
    <p:embeddedFont>
      <p:font typeface="Unbounded Black"/>
      <p:regular r:id="rId201326"/>
    </p:embeddedFont>
    <p:embeddedFont>
      <p:font typeface="Unbounded Medium"/>
      <p:regular r:id="rId201327"/>
    </p:embeddedFont>
    <p:embeddedFont>
      <p:font typeface="Unbounded SemiBold"/>
      <p:regular r:id="rId2013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Relationship Id="rId201336" Target="fonts/201336.fntdata" Type="http://schemas.openxmlformats.org/officeDocument/2006/relationships/font"/><Relationship Id="rId201337" Target="fonts/20133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project name and the one-line promise, then introduce the three of us and the part each one owns.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four problems on the left, then turn to the right and read the five objectives — every later slide answers one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flow left to right: user, web app, backend and API, then database plus cloud storage. Then name the user features quickly and the four admin features underneath.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layers left to right and name the one component in each we would defend: React with TypeScript, Spring Boot, PostgreSQL, and Azure Blob with Google Cloud Storage behind Docker and GitHub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each person and their part, then say plainly that backend and cloud integration are still in progress.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three columns left to right and keep them separate: the frontend is done, the backend and cloud work are in progress, deployment and CI/CD are planned. State clearly that today's demo runs on mock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eight future enhancements as two quick groups, land the closing sentence about what CloudSync aims to do, then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E8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541363"/>
            <a:ext cx="4876678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b="1" spc="-104" kern="0" dirty="0">
                <a:solidFill>
                  <a:srgbClr val="1F2933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CloudSync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609585" y="2385913"/>
            <a:ext cx="4876678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 secure multi-cloud file storage and management platform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09585" y="3217763"/>
            <a:ext cx="279393" cy="279400"/>
          </a:xfrm>
          <a:prstGeom prst="ellipse">
            <a:avLst/>
          </a:prstGeom>
          <a:solidFill>
            <a:srgbClr val="1F5EFF"/>
          </a:solidFill>
          <a:ln/>
        </p:spPr>
      </p:sp>
      <p:sp>
        <p:nvSpPr>
          <p:cNvPr id="5" name="Text 3"/>
          <p:cNvSpPr/>
          <p:nvPr/>
        </p:nvSpPr>
        <p:spPr>
          <a:xfrm>
            <a:off x="720012" y="3287613"/>
            <a:ext cx="668122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41374" y="3192363"/>
            <a:ext cx="5054474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1F2933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25MCC20050 – Anshu</a:t>
            </a:r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· Database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9585" y="3674963"/>
            <a:ext cx="279393" cy="279400"/>
          </a:xfrm>
          <a:prstGeom prst="ellipse">
            <a:avLst/>
          </a:prstGeom>
          <a:solidFill>
            <a:srgbClr val="1F5EFF"/>
          </a:solidFill>
          <a:ln/>
        </p:spPr>
      </p:sp>
      <p:sp>
        <p:nvSpPr>
          <p:cNvPr id="8" name="Text 6"/>
          <p:cNvSpPr/>
          <p:nvPr/>
        </p:nvSpPr>
        <p:spPr>
          <a:xfrm>
            <a:off x="709396" y="3744813"/>
            <a:ext cx="689355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41374" y="3649563"/>
            <a:ext cx="5054474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1F2933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25MCC20051 – Rahul</a:t>
            </a:r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· Frontend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585" y="4132163"/>
            <a:ext cx="279393" cy="279400"/>
          </a:xfrm>
          <a:prstGeom prst="ellipse">
            <a:avLst/>
          </a:prstGeom>
          <a:solidFill>
            <a:srgbClr val="1F5EFF"/>
          </a:solidFill>
          <a:ln/>
        </p:spPr>
      </p:sp>
      <p:sp>
        <p:nvSpPr>
          <p:cNvPr id="11" name="Text 9"/>
          <p:cNvSpPr/>
          <p:nvPr/>
        </p:nvSpPr>
        <p:spPr>
          <a:xfrm>
            <a:off x="710785" y="4202013"/>
            <a:ext cx="686577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41374" y="4106763"/>
            <a:ext cx="5054474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1F2933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25MCC20023 – Hemant</a:t>
            </a:r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· Backend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9585" y="4589363"/>
            <a:ext cx="1844034" cy="312837"/>
          </a:xfrm>
          <a:prstGeom prst="roundRect">
            <a:avLst>
              <a:gd name="adj" fmla="val 19486"/>
            </a:avLst>
          </a:prstGeom>
          <a:noFill/>
          <a:ln w="6350">
            <a:solidFill>
              <a:srgbClr val="1F29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3882" y="4640163"/>
            <a:ext cx="2225024" cy="21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0" dirty="0">
                <a:solidFill>
                  <a:srgbClr val="1F293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Project review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9585" y="5003800"/>
            <a:ext cx="2997919" cy="312837"/>
          </a:xfrm>
          <a:prstGeom prst="roundRect">
            <a:avLst>
              <a:gd name="adj" fmla="val 19486"/>
            </a:avLst>
          </a:prstGeom>
          <a:noFill/>
          <a:ln w="6350">
            <a:solidFill>
              <a:srgbClr val="1F29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3882" y="5054600"/>
            <a:ext cx="3378909" cy="21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0" dirty="0">
                <a:solidFill>
                  <a:srgbClr val="1F293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Cloud computing &amp; DevOps</a:t>
            </a:r>
            <a:endParaRPr lang="en-US" sz="13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48" y="0"/>
            <a:ext cx="609584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563865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2" kern="0" dirty="0">
                <a:solidFill>
                  <a:srgbClr val="1F5E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0191"/>
            <a:ext cx="5029074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600" b="1" spc="-39" kern="0" dirty="0">
                <a:solidFill>
                  <a:srgbClr val="1F2933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Files live in too many places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9585" y="1819672"/>
            <a:ext cx="5029074" cy="2259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Managing files across different cloud platforms is difficult.</a:t>
            </a:r>
            <a:endParaRPr lang="en-US" sz="1600" dirty="0"/>
          </a:p>
          <a:p>
            <a:pPr algn="l" indent="0" marL="0">
              <a:lnSpc>
                <a:spcPct val="117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Users need one centralized place to manage their files.</a:t>
            </a:r>
            <a:endParaRPr lang="en-US" sz="1600" dirty="0"/>
          </a:p>
          <a:p>
            <a:pPr algn="l" indent="0" marL="0">
              <a:lnSpc>
                <a:spcPct val="117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Sharing, searching, versioning and security all matter.</a:t>
            </a:r>
            <a:endParaRPr lang="en-US" sz="16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Depending on a single cloud provider creates limitations.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53036" y="609600"/>
            <a:ext cx="563865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2" kern="0" dirty="0">
                <a:solidFill>
                  <a:srgbClr val="1F5E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53036" y="890191"/>
            <a:ext cx="5029074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600" b="1" spc="-39" kern="0" dirty="0">
                <a:solidFill>
                  <a:srgbClr val="1F2933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One app, many clouds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553036" y="1456531"/>
            <a:ext cx="5029074" cy="190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Centralized file management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Support for multi-cloud storage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Secure authentication and file sharing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File version and activity tracking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Demonstrate cloud computing and DevOps concepts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86323" y="0"/>
            <a:ext cx="19050" cy="6858000"/>
          </a:xfrm>
          <a:prstGeom prst="rect">
            <a:avLst/>
          </a:prstGeom>
          <a:solidFill>
            <a:srgbClr val="1F5EF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spc="-48" kern="0" dirty="0">
                <a:solidFill>
                  <a:srgbClr val="1F2933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Proposed solution and key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59780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CloudSync sits as one centralized web app between users and multiple cloud storage providers.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22185" y="2197199"/>
            <a:ext cx="2717633" cy="787400"/>
          </a:xfrm>
          <a:prstGeom prst="rect">
            <a:avLst/>
          </a:prstGeom>
          <a:solidFill>
            <a:srgbClr val="CCDAFF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184598"/>
            <a:ext cx="2743131" cy="812800"/>
          </a:xfrm>
          <a:prstGeom prst="rect">
            <a:avLst/>
          </a:prstGeom>
          <a:solidFill>
            <a:srgbClr val="B2C0E5"/>
          </a:solidFill>
          <a:ln/>
        </p:spPr>
      </p:sp>
      <p:sp>
        <p:nvSpPr>
          <p:cNvPr id="6" name="Text 4"/>
          <p:cNvSpPr/>
          <p:nvPr/>
        </p:nvSpPr>
        <p:spPr>
          <a:xfrm>
            <a:off x="1917255" y="2438598"/>
            <a:ext cx="7373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1F2933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12780" y="3079948"/>
            <a:ext cx="2336742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User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780" y="3490119"/>
            <a:ext cx="294632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Signs in from the browser.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65317" y="2197199"/>
            <a:ext cx="2717633" cy="787400"/>
          </a:xfrm>
          <a:prstGeom prst="rect">
            <a:avLst/>
          </a:prstGeom>
          <a:solidFill>
            <a:srgbClr val="CCDAFF"/>
          </a:solidFill>
          <a:ln/>
        </p:spPr>
      </p:sp>
      <p:sp>
        <p:nvSpPr>
          <p:cNvPr id="10" name="Shape 8"/>
          <p:cNvSpPr/>
          <p:nvPr/>
        </p:nvSpPr>
        <p:spPr>
          <a:xfrm>
            <a:off x="3352716" y="2184598"/>
            <a:ext cx="2743131" cy="812800"/>
          </a:xfrm>
          <a:prstGeom prst="rect">
            <a:avLst/>
          </a:prstGeom>
          <a:solidFill>
            <a:srgbClr val="B2C0E5"/>
          </a:solidFill>
          <a:ln/>
        </p:spPr>
      </p:sp>
      <p:sp>
        <p:nvSpPr>
          <p:cNvPr id="11" name="Text 9"/>
          <p:cNvSpPr/>
          <p:nvPr/>
        </p:nvSpPr>
        <p:spPr>
          <a:xfrm>
            <a:off x="4637170" y="2438598"/>
            <a:ext cx="78370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1F2933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55911" y="3079948"/>
            <a:ext cx="2336742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CloudSync web app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55911" y="3490119"/>
            <a:ext cx="2336742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Upload, download, rename, move, folders, search, versions, sharing, activity.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08448" y="2197199"/>
            <a:ext cx="2717633" cy="787400"/>
          </a:xfrm>
          <a:prstGeom prst="rect">
            <a:avLst/>
          </a:prstGeom>
          <a:solidFill>
            <a:srgbClr val="CCDA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095848" y="2184598"/>
            <a:ext cx="2743131" cy="812800"/>
          </a:xfrm>
          <a:prstGeom prst="rect">
            <a:avLst/>
          </a:prstGeom>
          <a:solidFill>
            <a:srgbClr val="B2C0E5"/>
          </a:solidFill>
          <a:ln/>
        </p:spPr>
      </p:sp>
      <p:sp>
        <p:nvSpPr>
          <p:cNvPr id="16" name="Text 14"/>
          <p:cNvSpPr/>
          <p:nvPr/>
        </p:nvSpPr>
        <p:spPr>
          <a:xfrm>
            <a:off x="7383377" y="2438598"/>
            <a:ext cx="77755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1F2933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99042" y="3079948"/>
            <a:ext cx="2336742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Backend / API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99042" y="3490119"/>
            <a:ext cx="233674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Auth, permissions and routing of every request.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851579" y="2197199"/>
            <a:ext cx="2717633" cy="787400"/>
          </a:xfrm>
          <a:prstGeom prst="rect">
            <a:avLst/>
          </a:prstGeom>
          <a:solidFill>
            <a:srgbClr val="CCDAFF"/>
          </a:solidFill>
          <a:ln/>
        </p:spPr>
      </p:sp>
      <p:sp>
        <p:nvSpPr>
          <p:cNvPr id="20" name="Shape 18"/>
          <p:cNvSpPr/>
          <p:nvPr/>
        </p:nvSpPr>
        <p:spPr>
          <a:xfrm>
            <a:off x="8838979" y="2184598"/>
            <a:ext cx="2743131" cy="812800"/>
          </a:xfrm>
          <a:prstGeom prst="rect">
            <a:avLst/>
          </a:prstGeom>
          <a:solidFill>
            <a:srgbClr val="B2C0E5"/>
          </a:solidFill>
          <a:ln/>
        </p:spPr>
      </p:sp>
      <p:sp>
        <p:nvSpPr>
          <p:cNvPr id="21" name="Text 19"/>
          <p:cNvSpPr/>
          <p:nvPr/>
        </p:nvSpPr>
        <p:spPr>
          <a:xfrm>
            <a:off x="10114801" y="2438598"/>
            <a:ext cx="80107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1F2933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042174" y="3079948"/>
            <a:ext cx="2336742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Database + cloud storage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42174" y="3490119"/>
            <a:ext cx="233674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Metadata in the database, files in the cloud buckets.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9585" y="5080198"/>
            <a:ext cx="5333867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Admin features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9585" y="5541169"/>
            <a:ext cx="457189" cy="38100"/>
          </a:xfrm>
          <a:prstGeom prst="roundRect">
            <a:avLst>
              <a:gd name="adj" fmla="val 49999"/>
            </a:avLst>
          </a:prstGeom>
          <a:solidFill>
            <a:srgbClr val="1F5EFF"/>
          </a:solidFill>
          <a:ln/>
        </p:spPr>
      </p:sp>
      <p:sp>
        <p:nvSpPr>
          <p:cNvPr id="26" name="Text 24"/>
          <p:cNvSpPr/>
          <p:nvPr/>
        </p:nvSpPr>
        <p:spPr>
          <a:xfrm>
            <a:off x="609585" y="5750719"/>
            <a:ext cx="53338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User management, storage statistics, activity logs, cloud provider configuration.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48244" y="5080198"/>
            <a:ext cx="5333867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Security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48244" y="5541169"/>
            <a:ext cx="457189" cy="38100"/>
          </a:xfrm>
          <a:prstGeom prst="roundRect">
            <a:avLst>
              <a:gd name="adj" fmla="val 49999"/>
            </a:avLst>
          </a:prstGeom>
          <a:solidFill>
            <a:srgbClr val="1F5EFF"/>
          </a:solidFill>
          <a:ln/>
        </p:spPr>
      </p:sp>
      <p:sp>
        <p:nvSpPr>
          <p:cNvPr id="29" name="Text 27"/>
          <p:cNvSpPr/>
          <p:nvPr/>
        </p:nvSpPr>
        <p:spPr>
          <a:xfrm>
            <a:off x="6248244" y="5750719"/>
            <a:ext cx="594345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Registration and login, secure sharing links, activity history per file.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spc="-48" kern="0" dirty="0">
                <a:solidFill>
                  <a:srgbClr val="1F2933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Technology stack and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251347"/>
            <a:ext cx="2514537" cy="4604345"/>
          </a:xfrm>
          <a:prstGeom prst="roundRect">
            <a:avLst>
              <a:gd name="adj" fmla="val 3394"/>
            </a:avLst>
          </a:prstGeom>
          <a:noFill/>
          <a:ln w="25399">
            <a:solidFill>
              <a:srgbClr val="B2C0E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380" y="1505347"/>
            <a:ext cx="507987" cy="50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7380" y="2191147"/>
            <a:ext cx="2158946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Frontend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87380" y="2652117"/>
            <a:ext cx="457189" cy="38100"/>
          </a:xfrm>
          <a:prstGeom prst="roundRect">
            <a:avLst>
              <a:gd name="adj" fmla="val 49999"/>
            </a:avLst>
          </a:prstGeom>
          <a:solidFill>
            <a:srgbClr val="1F5EFF"/>
          </a:solidFill>
          <a:ln/>
        </p:spPr>
      </p:sp>
      <p:sp>
        <p:nvSpPr>
          <p:cNvPr id="7" name="Shape 4"/>
          <p:cNvSpPr/>
          <p:nvPr/>
        </p:nvSpPr>
        <p:spPr>
          <a:xfrm>
            <a:off x="787380" y="2861667"/>
            <a:ext cx="1120152" cy="337741"/>
          </a:xfrm>
          <a:prstGeom prst="roundRect">
            <a:avLst>
              <a:gd name="adj" fmla="val 18049"/>
            </a:avLst>
          </a:prstGeom>
          <a:noFill/>
          <a:ln w="19050">
            <a:solidFill>
              <a:srgbClr val="1F5E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20727" y="2931517"/>
            <a:ext cx="146304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React.js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7380" y="3301008"/>
            <a:ext cx="1295368" cy="299641"/>
          </a:xfrm>
          <a:prstGeom prst="roundRect">
            <a:avLst>
              <a:gd name="adj" fmla="val 20344"/>
            </a:avLst>
          </a:prstGeom>
          <a:noFill/>
          <a:ln w="6350">
            <a:solidFill>
              <a:srgbClr val="1F29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01677" y="3351808"/>
            <a:ext cx="167635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7380" y="3702248"/>
            <a:ext cx="1508782" cy="299641"/>
          </a:xfrm>
          <a:prstGeom prst="roundRect">
            <a:avLst>
              <a:gd name="adj" fmla="val 20344"/>
            </a:avLst>
          </a:prstGeom>
          <a:noFill/>
          <a:ln w="6350">
            <a:solidFill>
              <a:srgbClr val="1F29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01677" y="3753048"/>
            <a:ext cx="188977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Tailwind CSS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87380" y="4103489"/>
            <a:ext cx="1508782" cy="299641"/>
          </a:xfrm>
          <a:prstGeom prst="roundRect">
            <a:avLst>
              <a:gd name="adj" fmla="val 20344"/>
            </a:avLst>
          </a:prstGeom>
          <a:noFill/>
          <a:ln w="6350">
            <a:solidFill>
              <a:srgbClr val="1F29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01677" y="4154289"/>
            <a:ext cx="188977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React Router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87380" y="4504730"/>
            <a:ext cx="761981" cy="299641"/>
          </a:xfrm>
          <a:prstGeom prst="roundRect">
            <a:avLst>
              <a:gd name="adj" fmla="val 20344"/>
            </a:avLst>
          </a:prstGeom>
          <a:noFill/>
          <a:ln w="6350">
            <a:solidFill>
              <a:srgbClr val="1F29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1677" y="4555530"/>
            <a:ext cx="114297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Axios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428914" y="1251347"/>
            <a:ext cx="2514537" cy="4604345"/>
          </a:xfrm>
          <a:prstGeom prst="roundRect">
            <a:avLst>
              <a:gd name="adj" fmla="val 3394"/>
            </a:avLst>
          </a:prstGeom>
          <a:noFill/>
          <a:ln w="25399">
            <a:solidFill>
              <a:srgbClr val="B2C0E5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710" y="1505347"/>
            <a:ext cx="507987" cy="5080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606710" y="2191147"/>
            <a:ext cx="2158946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Backend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3606710" y="2652117"/>
            <a:ext cx="457189" cy="38100"/>
          </a:xfrm>
          <a:prstGeom prst="roundRect">
            <a:avLst>
              <a:gd name="adj" fmla="val 49999"/>
            </a:avLst>
          </a:prstGeom>
          <a:solidFill>
            <a:srgbClr val="1F5EFF"/>
          </a:solidFill>
          <a:ln/>
        </p:spPr>
      </p:sp>
      <p:sp>
        <p:nvSpPr>
          <p:cNvPr id="21" name="Shape 17"/>
          <p:cNvSpPr/>
          <p:nvPr/>
        </p:nvSpPr>
        <p:spPr>
          <a:xfrm>
            <a:off x="3606710" y="2861667"/>
            <a:ext cx="1440223" cy="337741"/>
          </a:xfrm>
          <a:prstGeom prst="roundRect">
            <a:avLst>
              <a:gd name="adj" fmla="val 18049"/>
            </a:avLst>
          </a:prstGeom>
          <a:noFill/>
          <a:ln w="19050">
            <a:solidFill>
              <a:srgbClr val="1F5E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740056" y="2931517"/>
            <a:ext cx="178311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Spring Boot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3606710" y="3301008"/>
            <a:ext cx="655323" cy="299641"/>
          </a:xfrm>
          <a:prstGeom prst="roundRect">
            <a:avLst>
              <a:gd name="adj" fmla="val 20344"/>
            </a:avLst>
          </a:prstGeom>
          <a:noFill/>
          <a:ln w="6350">
            <a:solidFill>
              <a:srgbClr val="1F293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721007" y="3351808"/>
            <a:ext cx="103631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Java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3606710" y="3702248"/>
            <a:ext cx="1828754" cy="299641"/>
          </a:xfrm>
          <a:prstGeom prst="roundRect">
            <a:avLst>
              <a:gd name="adj" fmla="val 20344"/>
            </a:avLst>
          </a:prstGeom>
          <a:noFill/>
          <a:ln w="6350">
            <a:solidFill>
              <a:srgbClr val="1F2933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721007" y="3753048"/>
            <a:ext cx="220974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Spring Security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3606710" y="4103489"/>
            <a:ext cx="1188710" cy="299641"/>
          </a:xfrm>
          <a:prstGeom prst="roundRect">
            <a:avLst>
              <a:gd name="adj" fmla="val 20344"/>
            </a:avLst>
          </a:prstGeom>
          <a:noFill/>
          <a:ln w="6350">
            <a:solidFill>
              <a:srgbClr val="1F2933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721007" y="4154289"/>
            <a:ext cx="156970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REST APIs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3606710" y="4504730"/>
            <a:ext cx="1828754" cy="299641"/>
          </a:xfrm>
          <a:prstGeom prst="roundRect">
            <a:avLst>
              <a:gd name="adj" fmla="val 20344"/>
            </a:avLst>
          </a:prstGeom>
          <a:noFill/>
          <a:ln w="6350">
            <a:solidFill>
              <a:srgbClr val="1F2933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721007" y="4555530"/>
            <a:ext cx="220974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Spring Data JPA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6248244" y="1251347"/>
            <a:ext cx="2514537" cy="4604345"/>
          </a:xfrm>
          <a:prstGeom prst="roundRect">
            <a:avLst>
              <a:gd name="adj" fmla="val 3394"/>
            </a:avLst>
          </a:prstGeom>
          <a:noFill/>
          <a:ln w="25399">
            <a:solidFill>
              <a:srgbClr val="B2C0E5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039" y="1505347"/>
            <a:ext cx="507987" cy="50800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26039" y="2191147"/>
            <a:ext cx="2158946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Database</a:t>
            </a:r>
            <a:endParaRPr lang="en-US" sz="1600" dirty="0"/>
          </a:p>
        </p:txBody>
      </p:sp>
      <p:sp>
        <p:nvSpPr>
          <p:cNvPr id="34" name="Shape 29"/>
          <p:cNvSpPr/>
          <p:nvPr/>
        </p:nvSpPr>
        <p:spPr>
          <a:xfrm>
            <a:off x="6426039" y="2652117"/>
            <a:ext cx="457189" cy="38100"/>
          </a:xfrm>
          <a:prstGeom prst="roundRect">
            <a:avLst>
              <a:gd name="adj" fmla="val 49999"/>
            </a:avLst>
          </a:prstGeom>
          <a:solidFill>
            <a:srgbClr val="1F5EFF"/>
          </a:solidFill>
          <a:ln/>
        </p:spPr>
      </p:sp>
      <p:sp>
        <p:nvSpPr>
          <p:cNvPr id="35" name="Shape 30"/>
          <p:cNvSpPr/>
          <p:nvPr/>
        </p:nvSpPr>
        <p:spPr>
          <a:xfrm>
            <a:off x="6426039" y="2861667"/>
            <a:ext cx="1333467" cy="337741"/>
          </a:xfrm>
          <a:prstGeom prst="roundRect">
            <a:avLst>
              <a:gd name="adj" fmla="val 18049"/>
            </a:avLst>
          </a:prstGeom>
          <a:noFill/>
          <a:ln w="19050">
            <a:solidFill>
              <a:srgbClr val="1F5EFF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559386" y="2931517"/>
            <a:ext cx="167635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6426039" y="3320058"/>
            <a:ext cx="215894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Users, files, versions and activity records.</a:t>
            </a:r>
            <a:endParaRPr lang="en-US" sz="1400" dirty="0"/>
          </a:p>
        </p:txBody>
      </p:sp>
      <p:sp>
        <p:nvSpPr>
          <p:cNvPr id="38" name="Shape 33"/>
          <p:cNvSpPr/>
          <p:nvPr/>
        </p:nvSpPr>
        <p:spPr>
          <a:xfrm>
            <a:off x="9067573" y="1251347"/>
            <a:ext cx="2514537" cy="4604345"/>
          </a:xfrm>
          <a:prstGeom prst="roundRect">
            <a:avLst>
              <a:gd name="adj" fmla="val 3394"/>
            </a:avLst>
          </a:prstGeom>
          <a:noFill/>
          <a:ln w="25399">
            <a:solidFill>
              <a:srgbClr val="B2C0E5"/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5369" y="1505347"/>
            <a:ext cx="507987" cy="50800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9245369" y="2191147"/>
            <a:ext cx="2158946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Cloud &amp; DevOps</a:t>
            </a:r>
            <a:endParaRPr lang="en-US" sz="1600" dirty="0"/>
          </a:p>
        </p:txBody>
      </p:sp>
      <p:sp>
        <p:nvSpPr>
          <p:cNvPr id="41" name="Shape 35"/>
          <p:cNvSpPr/>
          <p:nvPr/>
        </p:nvSpPr>
        <p:spPr>
          <a:xfrm>
            <a:off x="9245369" y="2652117"/>
            <a:ext cx="457189" cy="38100"/>
          </a:xfrm>
          <a:prstGeom prst="roundRect">
            <a:avLst>
              <a:gd name="adj" fmla="val 49999"/>
            </a:avLst>
          </a:prstGeom>
          <a:solidFill>
            <a:srgbClr val="1F5EFF"/>
          </a:solidFill>
          <a:ln/>
        </p:spPr>
      </p:sp>
      <p:sp>
        <p:nvSpPr>
          <p:cNvPr id="42" name="Shape 36"/>
          <p:cNvSpPr/>
          <p:nvPr/>
        </p:nvSpPr>
        <p:spPr>
          <a:xfrm>
            <a:off x="9245369" y="2861667"/>
            <a:ext cx="2158946" cy="535781"/>
          </a:xfrm>
          <a:prstGeom prst="roundRect">
            <a:avLst>
              <a:gd name="adj" fmla="val 11377"/>
            </a:avLst>
          </a:prstGeom>
          <a:noFill/>
          <a:ln w="19050">
            <a:solidFill>
              <a:srgbClr val="1F5EFF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9378715" y="2931517"/>
            <a:ext cx="1892253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Azure Blob Storage</a:t>
            </a:r>
            <a:endParaRPr lang="en-US" sz="1200" dirty="0"/>
          </a:p>
        </p:txBody>
      </p:sp>
      <p:sp>
        <p:nvSpPr>
          <p:cNvPr id="44" name="Shape 38"/>
          <p:cNvSpPr/>
          <p:nvPr/>
        </p:nvSpPr>
        <p:spPr>
          <a:xfrm>
            <a:off x="9245369" y="3499048"/>
            <a:ext cx="2158946" cy="497681"/>
          </a:xfrm>
          <a:prstGeom prst="roundRect">
            <a:avLst>
              <a:gd name="adj" fmla="val 12248"/>
            </a:avLst>
          </a:prstGeom>
          <a:noFill/>
          <a:ln w="6350">
            <a:solidFill>
              <a:srgbClr val="1F2933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9359666" y="3549848"/>
            <a:ext cx="1930352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Google Cloud Storage</a:t>
            </a:r>
            <a:endParaRPr lang="en-US" sz="1200" dirty="0"/>
          </a:p>
        </p:txBody>
      </p:sp>
      <p:sp>
        <p:nvSpPr>
          <p:cNvPr id="46" name="Shape 40"/>
          <p:cNvSpPr/>
          <p:nvPr/>
        </p:nvSpPr>
        <p:spPr>
          <a:xfrm>
            <a:off x="9245369" y="4098330"/>
            <a:ext cx="868738" cy="299641"/>
          </a:xfrm>
          <a:prstGeom prst="roundRect">
            <a:avLst>
              <a:gd name="adj" fmla="val 20344"/>
            </a:avLst>
          </a:prstGeom>
          <a:noFill/>
          <a:ln w="6350">
            <a:solidFill>
              <a:srgbClr val="1F2933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9359666" y="4149130"/>
            <a:ext cx="124972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Docker</a:t>
            </a:r>
            <a:endParaRPr lang="en-US" sz="1200" dirty="0"/>
          </a:p>
        </p:txBody>
      </p:sp>
      <p:sp>
        <p:nvSpPr>
          <p:cNvPr id="48" name="Shape 42"/>
          <p:cNvSpPr/>
          <p:nvPr/>
        </p:nvSpPr>
        <p:spPr>
          <a:xfrm>
            <a:off x="9245369" y="4499570"/>
            <a:ext cx="1508782" cy="299641"/>
          </a:xfrm>
          <a:prstGeom prst="roundRect">
            <a:avLst>
              <a:gd name="adj" fmla="val 20344"/>
            </a:avLst>
          </a:prstGeom>
          <a:noFill/>
          <a:ln w="6350">
            <a:solidFill>
              <a:srgbClr val="1F2933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9359666" y="4550370"/>
            <a:ext cx="188977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Git / GitHub</a:t>
            </a:r>
            <a:endParaRPr lang="en-US" sz="1200" dirty="0"/>
          </a:p>
        </p:txBody>
      </p:sp>
      <p:sp>
        <p:nvSpPr>
          <p:cNvPr id="50" name="Shape 44"/>
          <p:cNvSpPr/>
          <p:nvPr/>
        </p:nvSpPr>
        <p:spPr>
          <a:xfrm>
            <a:off x="9245369" y="4900811"/>
            <a:ext cx="1722097" cy="299641"/>
          </a:xfrm>
          <a:prstGeom prst="roundRect">
            <a:avLst>
              <a:gd name="adj" fmla="val 20344"/>
            </a:avLst>
          </a:prstGeom>
          <a:noFill/>
          <a:ln w="6350">
            <a:solidFill>
              <a:srgbClr val="1F2933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9359666" y="4951611"/>
            <a:ext cx="210308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52" name="Shape 46"/>
          <p:cNvSpPr/>
          <p:nvPr/>
        </p:nvSpPr>
        <p:spPr>
          <a:xfrm>
            <a:off x="9245369" y="5302052"/>
            <a:ext cx="2042168" cy="299641"/>
          </a:xfrm>
          <a:prstGeom prst="roundRect">
            <a:avLst>
              <a:gd name="adj" fmla="val 20344"/>
            </a:avLst>
          </a:prstGeom>
          <a:noFill/>
          <a:ln w="6350">
            <a:solidFill>
              <a:srgbClr val="1F2933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9359666" y="5352852"/>
            <a:ext cx="242315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Azure App Service</a:t>
            </a:r>
            <a:endParaRPr lang="en-US" sz="1200" dirty="0"/>
          </a:p>
        </p:txBody>
      </p:sp>
      <p:sp>
        <p:nvSpPr>
          <p:cNvPr id="54" name="Text 48"/>
          <p:cNvSpPr/>
          <p:nvPr/>
        </p:nvSpPr>
        <p:spPr>
          <a:xfrm>
            <a:off x="609585" y="6050459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0" dirty="0">
                <a:solidFill>
                  <a:srgbClr val="5B667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The blue-bordered chip in each column is the choice we would defend to a reviewer.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spc="-48" kern="0" dirty="0">
                <a:solidFill>
                  <a:srgbClr val="1F2933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Team contributions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259780"/>
            <a:ext cx="10972526" cy="1449487"/>
          </a:xfrm>
          <a:prstGeom prst="roundRect">
            <a:avLst>
              <a:gd name="adj" fmla="val 5888"/>
            </a:avLst>
          </a:prstGeom>
          <a:noFill/>
          <a:ln w="25399">
            <a:solidFill>
              <a:srgbClr val="B2C0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8179" y="1611213"/>
            <a:ext cx="3063203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Rahul – Frontend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38179" y="2021384"/>
            <a:ext cx="1382479" cy="312837"/>
          </a:xfrm>
          <a:prstGeom prst="roundRect">
            <a:avLst>
              <a:gd name="adj" fmla="val 19486"/>
            </a:avLst>
          </a:prstGeom>
          <a:noFill/>
          <a:ln w="6350">
            <a:solidFill>
              <a:srgbClr val="1F29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476" y="2072184"/>
            <a:ext cx="1763470" cy="21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0" dirty="0">
                <a:solidFill>
                  <a:srgbClr val="1F293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25MCC20051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06075" y="1611213"/>
            <a:ext cx="7147441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Built the React and TypeScript frontend: responsive UI, routing and app pages, the file-management interface, the Axios-based API service structure, and the login and register screens.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585" y="2861667"/>
            <a:ext cx="10972526" cy="1426071"/>
          </a:xfrm>
          <a:prstGeom prst="roundRect">
            <a:avLst>
              <a:gd name="adj" fmla="val 5984"/>
            </a:avLst>
          </a:prstGeom>
          <a:noFill/>
          <a:ln w="25399">
            <a:solidFill>
              <a:srgbClr val="B2C0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179" y="3213199"/>
            <a:ext cx="3063203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Anshu – Database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179" y="3623370"/>
            <a:ext cx="1382479" cy="312837"/>
          </a:xfrm>
          <a:prstGeom prst="roundRect">
            <a:avLst>
              <a:gd name="adj" fmla="val 19486"/>
            </a:avLst>
          </a:prstGeom>
          <a:noFill/>
          <a:ln w="6350">
            <a:solidFill>
              <a:srgbClr val="1F29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476" y="3674170"/>
            <a:ext cx="1763470" cy="21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0" dirty="0">
                <a:solidFill>
                  <a:srgbClr val="1F293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25MCC20050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06075" y="3325813"/>
            <a:ext cx="714744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Backend development with Spring Boot REST APIs, authentication and server-side logic, and backend integration with the frontend.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585" y="4440138"/>
            <a:ext cx="10972526" cy="1426071"/>
          </a:xfrm>
          <a:prstGeom prst="roundRect">
            <a:avLst>
              <a:gd name="adj" fmla="val 5984"/>
            </a:avLst>
          </a:prstGeom>
          <a:noFill/>
          <a:ln w="25399">
            <a:solidFill>
              <a:srgbClr val="B2C0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179" y="4791670"/>
            <a:ext cx="3063203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Hemant – Backend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8179" y="5201841"/>
            <a:ext cx="1382479" cy="312837"/>
          </a:xfrm>
          <a:prstGeom prst="roundRect">
            <a:avLst>
              <a:gd name="adj" fmla="val 19486"/>
            </a:avLst>
          </a:prstGeom>
          <a:noFill/>
          <a:ln w="6350">
            <a:solidFill>
              <a:srgbClr val="1F29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2476" y="5252641"/>
            <a:ext cx="1763470" cy="21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0" dirty="0">
                <a:solidFill>
                  <a:srgbClr val="1F293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25MCC20023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06075" y="4904284"/>
            <a:ext cx="714744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Backend development, backend services and APIs, database and backend integration, and support for cloud-storage integration.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9585" y="6050359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0" dirty="0">
                <a:solidFill>
                  <a:srgbClr val="5B667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Backend and cloud integration are still in progress, not yet complete.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spc="-48" kern="0" dirty="0">
                <a:solidFill>
                  <a:srgbClr val="1F2933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Current progress and demonstration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259780"/>
            <a:ext cx="3555911" cy="4408388"/>
          </a:xfrm>
          <a:prstGeom prst="rect">
            <a:avLst/>
          </a:prstGeom>
          <a:solidFill>
            <a:srgbClr val="E3F5EA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1488380"/>
            <a:ext cx="3098722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Completed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38179" y="1898551"/>
            <a:ext cx="3098722" cy="124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Frontend UI and React components. File-management interface. Authentication UI. API service structure. Frontend functionality running on mock data.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38179" y="5106491"/>
            <a:ext cx="664749" cy="333077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9776" y="5167412"/>
            <a:ext cx="1071139" cy="21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0" dirty="0">
                <a:solidFill>
                  <a:srgbClr val="000000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DONE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7892" y="1259780"/>
            <a:ext cx="3555911" cy="4408388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7"/>
          <p:cNvSpPr/>
          <p:nvPr/>
        </p:nvSpPr>
        <p:spPr>
          <a:xfrm>
            <a:off x="4546486" y="1488380"/>
            <a:ext cx="3098722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 progress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46486" y="1898551"/>
            <a:ext cx="3098722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Spring Boot backend. PostgreSQL database. Azure and GCP cloud integration. Frontend–backend integration. Testing.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46486" y="5106491"/>
            <a:ext cx="1472469" cy="333077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8084" y="5167412"/>
            <a:ext cx="1878858" cy="21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0" dirty="0">
                <a:solidFill>
                  <a:srgbClr val="000000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IN PROGRESS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26199" y="1259780"/>
            <a:ext cx="3555911" cy="4408388"/>
          </a:xfrm>
          <a:prstGeom prst="roundRect">
            <a:avLst>
              <a:gd name="adj" fmla="val 1714"/>
            </a:avLst>
          </a:prstGeom>
          <a:noFill/>
          <a:ln w="25399">
            <a:solidFill>
              <a:srgbClr val="B2C0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0193" y="1513780"/>
            <a:ext cx="3047924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Planned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80193" y="1923951"/>
            <a:ext cx="3047924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Docker deployment. GitHub Actions CI/CD. Azure App Service deployment. Advanced security features.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80193" y="5081091"/>
            <a:ext cx="1010915" cy="333077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1F29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1790" y="5142012"/>
            <a:ext cx="1417304" cy="21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0" dirty="0">
                <a:solidFill>
                  <a:srgbClr val="1F293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PLANNED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9585" y="5852319"/>
            <a:ext cx="10972526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0" dirty="0">
                <a:solidFill>
                  <a:srgbClr val="5B667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The current frontend demonstration uses mock data — the full backend and real cloud storage integration are not yet live.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095848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spc="-48" kern="0" dirty="0">
                <a:solidFill>
                  <a:srgbClr val="1F2933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Future scope and 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706761"/>
            <a:ext cx="2971726" cy="497681"/>
          </a:xfrm>
          <a:prstGeom prst="roundRect">
            <a:avLst>
              <a:gd name="adj" fmla="val 12248"/>
            </a:avLst>
          </a:prstGeom>
          <a:noFill/>
          <a:ln w="6350">
            <a:solidFill>
              <a:srgbClr val="1F29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3882" y="1757561"/>
            <a:ext cx="2743131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End-to-end file encryption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585" y="2306042"/>
            <a:ext cx="2895528" cy="299641"/>
          </a:xfrm>
          <a:prstGeom prst="roundRect">
            <a:avLst>
              <a:gd name="adj" fmla="val 20344"/>
            </a:avLst>
          </a:prstGeom>
          <a:noFill/>
          <a:ln w="6350">
            <a:solidFill>
              <a:srgbClr val="1F29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882" y="2356842"/>
            <a:ext cx="327651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Two-factor authentication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9585" y="2707283"/>
            <a:ext cx="2971726" cy="497681"/>
          </a:xfrm>
          <a:prstGeom prst="roundRect">
            <a:avLst>
              <a:gd name="adj" fmla="val 12248"/>
            </a:avLst>
          </a:prstGeom>
          <a:noFill/>
          <a:ln w="6350">
            <a:solidFill>
              <a:srgbClr val="1F29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3882" y="2758083"/>
            <a:ext cx="2743131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AI-based file organization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585" y="3306564"/>
            <a:ext cx="2148826" cy="299641"/>
          </a:xfrm>
          <a:prstGeom prst="roundRect">
            <a:avLst>
              <a:gd name="adj" fmla="val 20344"/>
            </a:avLst>
          </a:prstGeom>
          <a:noFill/>
          <a:ln w="6350">
            <a:solidFill>
              <a:srgbClr val="1F29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3882" y="3357364"/>
            <a:ext cx="252981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Mobile application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33707" y="1706761"/>
            <a:ext cx="2682213" cy="299641"/>
          </a:xfrm>
          <a:prstGeom prst="roundRect">
            <a:avLst>
              <a:gd name="adj" fmla="val 20344"/>
            </a:avLst>
          </a:prstGeom>
          <a:noFill/>
          <a:ln w="6350">
            <a:solidFill>
              <a:srgbClr val="1F29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8004" y="1757561"/>
            <a:ext cx="306320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Real-time collaboration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33707" y="2108002"/>
            <a:ext cx="2971726" cy="497681"/>
          </a:xfrm>
          <a:prstGeom prst="roundRect">
            <a:avLst>
              <a:gd name="adj" fmla="val 12248"/>
            </a:avLst>
          </a:prstGeom>
          <a:noFill/>
          <a:ln w="6350">
            <a:solidFill>
              <a:srgbClr val="1F29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8004" y="2158802"/>
            <a:ext cx="2743131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Advanced storage analytics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33707" y="2707283"/>
            <a:ext cx="2971726" cy="497681"/>
          </a:xfrm>
          <a:prstGeom prst="roundRect">
            <a:avLst>
              <a:gd name="adj" fmla="val 12248"/>
            </a:avLst>
          </a:prstGeom>
          <a:noFill/>
          <a:ln w="6350">
            <a:solidFill>
              <a:srgbClr val="1F29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8004" y="2758083"/>
            <a:ext cx="2743131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Complete multi-cloud deployment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33707" y="3306564"/>
            <a:ext cx="1935511" cy="299641"/>
          </a:xfrm>
          <a:prstGeom prst="roundRect">
            <a:avLst>
              <a:gd name="adj" fmla="val 20344"/>
            </a:avLst>
          </a:prstGeom>
          <a:noFill/>
          <a:ln w="6350">
            <a:solidFill>
              <a:srgbClr val="1F29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8004" y="3357364"/>
            <a:ext cx="231650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CI/CD automation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9585" y="3809405"/>
            <a:ext cx="6095848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CloudSync aims to provide a secure, centralized platform for managing files across multiple cloud providers — combining web development, cloud computing, database management, security, Docker and DevOps concepts.</a:t>
            </a:r>
            <a:endParaRPr lang="en-US" sz="16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2026-09-10T08:49:29Z</dcterms:created>
  <dcterms:modified xsi:type="dcterms:W3CDTF">2026-09-10T08:49:29Z</dcterms:modified>
</cp:coreProperties>
</file>